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3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129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0"/>
            <a:ext cx="640080" cy="6858000"/>
          </a:xfrm>
          <a:prstGeom prst="rect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3" name="Shape 1"/>
          <p:cNvSpPr/>
          <p:nvPr/>
        </p:nvSpPr>
        <p:spPr>
          <a:xfrm>
            <a:off x="10881360" y="0"/>
            <a:ext cx="640080" cy="6858000"/>
          </a:xfrm>
          <a:prstGeom prst="rect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4" name="Shape 2"/>
          <p:cNvSpPr/>
          <p:nvPr/>
        </p:nvSpPr>
        <p:spPr>
          <a:xfrm>
            <a:off x="11521440" y="0"/>
            <a:ext cx="640080" cy="6858000"/>
          </a:xfrm>
          <a:prstGeom prst="rect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D6121A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PR"/>
          </a:p>
        </p:txBody>
      </p:sp>
      <p:sp>
        <p:nvSpPr>
          <p:cNvPr id="6" name="Shape 4"/>
          <p:cNvSpPr/>
          <p:nvPr/>
        </p:nvSpPr>
        <p:spPr>
          <a:xfrm>
            <a:off x="832104" y="873380"/>
            <a:ext cx="192756" cy="192756"/>
          </a:xfrm>
          <a:prstGeom prst="ellipse">
            <a:avLst/>
          </a:prstGeom>
          <a:solidFill>
            <a:srgbClr val="D6121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R"/>
          </a:p>
        </p:txBody>
      </p:sp>
      <p:sp>
        <p:nvSpPr>
          <p:cNvPr id="7" name="Shape 5"/>
          <p:cNvSpPr/>
          <p:nvPr/>
        </p:nvSpPr>
        <p:spPr>
          <a:xfrm>
            <a:off x="1229502" y="873380"/>
            <a:ext cx="192756" cy="192756"/>
          </a:xfrm>
          <a:prstGeom prst="ellipse">
            <a:avLst/>
          </a:prstGeom>
          <a:solidFill>
            <a:srgbClr val="D6121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R"/>
          </a:p>
        </p:txBody>
      </p:sp>
      <p:sp>
        <p:nvSpPr>
          <p:cNvPr id="8" name="Shape 6"/>
          <p:cNvSpPr/>
          <p:nvPr/>
        </p:nvSpPr>
        <p:spPr>
          <a:xfrm>
            <a:off x="1626900" y="873380"/>
            <a:ext cx="192756" cy="192756"/>
          </a:xfrm>
          <a:prstGeom prst="ellipse">
            <a:avLst/>
          </a:prstGeom>
          <a:solidFill>
            <a:srgbClr val="D6121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R"/>
          </a:p>
        </p:txBody>
      </p:sp>
      <p:sp>
        <p:nvSpPr>
          <p:cNvPr id="9" name="Shape 7"/>
          <p:cNvSpPr/>
          <p:nvPr/>
        </p:nvSpPr>
        <p:spPr>
          <a:xfrm>
            <a:off x="2121408" y="960120"/>
            <a:ext cx="914400" cy="566928"/>
          </a:xfrm>
          <a:prstGeom prst="roundRect">
            <a:avLst>
              <a:gd name="adj" fmla="val 8065"/>
            </a:avLst>
          </a:prstGeom>
          <a:solidFill>
            <a:srgbClr val="FFCD00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PR"/>
          </a:p>
        </p:txBody>
      </p:sp>
      <p:sp>
        <p:nvSpPr>
          <p:cNvPr id="10" name="Shape 8"/>
          <p:cNvSpPr/>
          <p:nvPr/>
        </p:nvSpPr>
        <p:spPr>
          <a:xfrm>
            <a:off x="2249424" y="873380"/>
            <a:ext cx="192756" cy="192756"/>
          </a:xfrm>
          <a:prstGeom prst="ellipse">
            <a:avLst/>
          </a:prstGeom>
          <a:solidFill>
            <a:srgbClr val="FFCD0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R"/>
          </a:p>
        </p:txBody>
      </p:sp>
      <p:sp>
        <p:nvSpPr>
          <p:cNvPr id="11" name="Shape 9"/>
          <p:cNvSpPr/>
          <p:nvPr/>
        </p:nvSpPr>
        <p:spPr>
          <a:xfrm>
            <a:off x="2715036" y="873380"/>
            <a:ext cx="192756" cy="192756"/>
          </a:xfrm>
          <a:prstGeom prst="ellipse">
            <a:avLst/>
          </a:prstGeom>
          <a:solidFill>
            <a:srgbClr val="FFCD0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R"/>
          </a:p>
        </p:txBody>
      </p:sp>
      <p:sp>
        <p:nvSpPr>
          <p:cNvPr id="12" name="Text 10"/>
          <p:cNvSpPr/>
          <p:nvPr/>
        </p:nvSpPr>
        <p:spPr>
          <a:xfrm>
            <a:off x="594360" y="182880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LegoDB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FFC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de visualización de una base de datos de conjuntos LEGO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4160520"/>
            <a:ext cx="2926080" cy="41148"/>
          </a:xfrm>
          <a:prstGeom prst="rect">
            <a:avLst/>
          </a:prstGeom>
          <a:solidFill>
            <a:srgbClr val="5B606B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15" name="Text 13"/>
          <p:cNvSpPr/>
          <p:nvPr/>
        </p:nvSpPr>
        <p:spPr>
          <a:xfrm>
            <a:off x="658368" y="43891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C9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 ·  COMP4018-030  ·  Bases de Datos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Johnel Cunningham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Recinto Universitario de Mayagüez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1A24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61520" cy="73152"/>
          </a:xfrm>
          <a:prstGeom prst="rect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164592" cy="164592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5" name="Shape 3"/>
          <p:cNvSpPr/>
          <p:nvPr/>
        </p:nvSpPr>
        <p:spPr>
          <a:xfrm>
            <a:off x="813816" y="146304"/>
            <a:ext cx="164592" cy="164592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6" name="Shape 4"/>
          <p:cNvSpPr/>
          <p:nvPr/>
        </p:nvSpPr>
        <p:spPr>
          <a:xfrm>
            <a:off x="1124712" y="146304"/>
            <a:ext cx="164592" cy="164592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7" name="Shape 5"/>
          <p:cNvSpPr/>
          <p:nvPr/>
        </p:nvSpPr>
        <p:spPr>
          <a:xfrm>
            <a:off x="1435608" y="146304"/>
            <a:ext cx="164592" cy="164592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8" name="Shape 6"/>
          <p:cNvSpPr/>
          <p:nvPr/>
        </p:nvSpPr>
        <p:spPr>
          <a:xfrm>
            <a:off x="1746504" y="146304"/>
            <a:ext cx="164592" cy="164592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9" name="Shape 7"/>
          <p:cNvSpPr/>
          <p:nvPr/>
        </p:nvSpPr>
        <p:spPr>
          <a:xfrm>
            <a:off x="2057400" y="146304"/>
            <a:ext cx="164592" cy="164592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10" name="Text 8"/>
          <p:cNvSpPr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del proyecto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692640" y="32918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C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LegoDB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3258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02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una “sábana” CSV a una base de datos relacional consultable desde la web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2286000"/>
            <a:ext cx="6812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una base de datos </a:t>
            </a:r>
            <a:r>
              <a:rPr lang="en-US" sz="1500" b="1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normalizada (3NF/BCNF)</a:t>
            </a:r>
            <a:r>
              <a:rPr lang="en-US" sz="1500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partir del dataset </a:t>
            </a:r>
            <a:r>
              <a:rPr lang="en-US" sz="1500" i="1" dirty="0">
                <a:solidFill>
                  <a:srgbClr val="D6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lego_sets.csv</a:t>
            </a:r>
            <a:r>
              <a:rPr lang="en-US" sz="1500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(12 261 filas, 744 sets en 21 países) y exponerla mediante una </a:t>
            </a:r>
            <a:r>
              <a:rPr lang="en-US" sz="1500" b="1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Flask</a:t>
            </a:r>
            <a:r>
              <a:rPr lang="en-US" sz="1500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permita consultar y manipular los datos de forma segura.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6812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redundancia y anomalías mediante normalización formal</a:t>
            </a:r>
            <a:endParaRPr lang="en-US" sz="14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integridad referencial a nivel del DBMS</a:t>
            </a:r>
            <a:endParaRPr lang="en-US" sz="14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responsabilidades con el patrón MVC sobre Flask</a:t>
            </a:r>
            <a:endParaRPr lang="en-US" sz="14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 dominio de SQL: JOIN, agregación y subconsultas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680960" y="1371600"/>
            <a:ext cx="3977640" cy="1078992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16" name="Shape 14"/>
          <p:cNvSpPr/>
          <p:nvPr/>
        </p:nvSpPr>
        <p:spPr>
          <a:xfrm>
            <a:off x="7680960" y="1371600"/>
            <a:ext cx="109728" cy="1078992"/>
          </a:xfrm>
          <a:prstGeom prst="rect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17" name="Text 15"/>
          <p:cNvSpPr/>
          <p:nvPr/>
        </p:nvSpPr>
        <p:spPr>
          <a:xfrm>
            <a:off x="7882128" y="1389888"/>
            <a:ext cx="1371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12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744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235440" y="1371600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distintos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80960" y="2560320"/>
            <a:ext cx="3977640" cy="1078992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20" name="Shape 18"/>
          <p:cNvSpPr/>
          <p:nvPr/>
        </p:nvSpPr>
        <p:spPr>
          <a:xfrm>
            <a:off x="7680960" y="2560320"/>
            <a:ext cx="109728" cy="1078992"/>
          </a:xfrm>
          <a:prstGeom prst="rect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21" name="Text 19"/>
          <p:cNvSpPr/>
          <p:nvPr/>
        </p:nvSpPr>
        <p:spPr>
          <a:xfrm>
            <a:off x="7882128" y="2578608"/>
            <a:ext cx="1371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5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235440" y="2560320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/ países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80960" y="3749040"/>
            <a:ext cx="3977640" cy="1078992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24" name="Shape 22"/>
          <p:cNvSpPr/>
          <p:nvPr/>
        </p:nvSpPr>
        <p:spPr>
          <a:xfrm>
            <a:off x="7680960" y="3749040"/>
            <a:ext cx="109728" cy="1078992"/>
          </a:xfrm>
          <a:prstGeom prst="rect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25" name="Text 23"/>
          <p:cNvSpPr/>
          <p:nvPr/>
        </p:nvSpPr>
        <p:spPr>
          <a:xfrm>
            <a:off x="7882128" y="3767328"/>
            <a:ext cx="1371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C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9235440" y="3749040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relacionales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80960" y="4937760"/>
            <a:ext cx="3977640" cy="1078992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28" name="Shape 26"/>
          <p:cNvSpPr/>
          <p:nvPr/>
        </p:nvSpPr>
        <p:spPr>
          <a:xfrm>
            <a:off x="7680960" y="4937760"/>
            <a:ext cx="109728" cy="1078992"/>
          </a:xfrm>
          <a:prstGeom prst="rect">
            <a:avLst/>
          </a:prstGeom>
          <a:solidFill>
            <a:srgbClr val="2C9E4B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29" name="Text 27"/>
          <p:cNvSpPr/>
          <p:nvPr/>
        </p:nvSpPr>
        <p:spPr>
          <a:xfrm>
            <a:off x="7882128" y="4956048"/>
            <a:ext cx="1371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9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9235440" y="4937760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LegoDB · COMP4018-030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1A24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61520" cy="73152"/>
          </a:xfrm>
          <a:prstGeom prst="rect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164592" cy="164592"/>
          </a:xfrm>
          <a:prstGeom prst="ellipse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5" name="Shape 3"/>
          <p:cNvSpPr/>
          <p:nvPr/>
        </p:nvSpPr>
        <p:spPr>
          <a:xfrm>
            <a:off x="813816" y="146304"/>
            <a:ext cx="164592" cy="164592"/>
          </a:xfrm>
          <a:prstGeom prst="ellipse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6" name="Shape 4"/>
          <p:cNvSpPr/>
          <p:nvPr/>
        </p:nvSpPr>
        <p:spPr>
          <a:xfrm>
            <a:off x="1124712" y="146304"/>
            <a:ext cx="164592" cy="164592"/>
          </a:xfrm>
          <a:prstGeom prst="ellipse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7" name="Shape 5"/>
          <p:cNvSpPr/>
          <p:nvPr/>
        </p:nvSpPr>
        <p:spPr>
          <a:xfrm>
            <a:off x="1435608" y="146304"/>
            <a:ext cx="164592" cy="164592"/>
          </a:xfrm>
          <a:prstGeom prst="ellipse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8" name="Shape 6"/>
          <p:cNvSpPr/>
          <p:nvPr/>
        </p:nvSpPr>
        <p:spPr>
          <a:xfrm>
            <a:off x="1746504" y="146304"/>
            <a:ext cx="164592" cy="164592"/>
          </a:xfrm>
          <a:prstGeom prst="ellipse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9" name="Shape 7"/>
          <p:cNvSpPr/>
          <p:nvPr/>
        </p:nvSpPr>
        <p:spPr>
          <a:xfrm>
            <a:off x="2057400" y="146304"/>
            <a:ext cx="164592" cy="164592"/>
          </a:xfrm>
          <a:prstGeom prst="ellipse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10" name="Text 8"/>
          <p:cNvSpPr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Requisitos funcionales cubiertos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692640" y="32918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C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LegoDB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requisitos (RF-01 a RF-09); cada uno es una ruta Flask con su consulta SQL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R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3611880" cy="91440"/>
          </a:xfrm>
          <a:prstGeom prst="rect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15" name="Text 13"/>
          <p:cNvSpPr/>
          <p:nvPr/>
        </p:nvSpPr>
        <p:spPr>
          <a:xfrm>
            <a:off x="731520" y="19293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D612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RF-01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2286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cuenta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26974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/register · hash Werkzeug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25112" y="1783080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R"/>
          </a:p>
        </p:txBody>
      </p:sp>
      <p:sp>
        <p:nvSpPr>
          <p:cNvPr id="19" name="Shape 17"/>
          <p:cNvSpPr/>
          <p:nvPr/>
        </p:nvSpPr>
        <p:spPr>
          <a:xfrm>
            <a:off x="4325112" y="1783080"/>
            <a:ext cx="3611880" cy="91440"/>
          </a:xfrm>
          <a:prstGeom prst="rect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20" name="Text 18"/>
          <p:cNvSpPr/>
          <p:nvPr/>
        </p:nvSpPr>
        <p:spPr>
          <a:xfrm>
            <a:off x="4507992" y="19293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D612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RF-02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07992" y="2286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Autenticar usuario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07992" y="26974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 · Flask-Login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01584" y="1783080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R"/>
          </a:p>
        </p:txBody>
      </p:sp>
      <p:sp>
        <p:nvSpPr>
          <p:cNvPr id="24" name="Shape 22"/>
          <p:cNvSpPr/>
          <p:nvPr/>
        </p:nvSpPr>
        <p:spPr>
          <a:xfrm>
            <a:off x="8101584" y="1783080"/>
            <a:ext cx="3611880" cy="91440"/>
          </a:xfrm>
          <a:prstGeom prst="rect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25" name="Text 23"/>
          <p:cNvSpPr/>
          <p:nvPr/>
        </p:nvSpPr>
        <p:spPr>
          <a:xfrm>
            <a:off x="8284464" y="19293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5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RF-03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84464" y="2286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Subconsulta (WITH)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84464" y="26974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sobre precio promedio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273552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R"/>
          </a:p>
        </p:txBody>
      </p:sp>
      <p:sp>
        <p:nvSpPr>
          <p:cNvPr id="29" name="Shape 27"/>
          <p:cNvSpPr/>
          <p:nvPr/>
        </p:nvSpPr>
        <p:spPr>
          <a:xfrm>
            <a:off x="548640" y="3273552"/>
            <a:ext cx="3611880" cy="91440"/>
          </a:xfrm>
          <a:prstGeom prst="rect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30" name="Text 28"/>
          <p:cNvSpPr/>
          <p:nvPr/>
        </p:nvSpPr>
        <p:spPr>
          <a:xfrm>
            <a:off x="731520" y="34198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5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RF-04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31520" y="37764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todas las tablas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31520" y="41879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information_schema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25112" y="3273552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R"/>
          </a:p>
        </p:txBody>
      </p:sp>
      <p:sp>
        <p:nvSpPr>
          <p:cNvPr id="34" name="Shape 32"/>
          <p:cNvSpPr/>
          <p:nvPr/>
        </p:nvSpPr>
        <p:spPr>
          <a:xfrm>
            <a:off x="4325112" y="3273552"/>
            <a:ext cx="3611880" cy="91440"/>
          </a:xfrm>
          <a:prstGeom prst="rect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35" name="Text 33"/>
          <p:cNvSpPr/>
          <p:nvPr/>
        </p:nvSpPr>
        <p:spPr>
          <a:xfrm>
            <a:off x="4507992" y="34198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5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RF-05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4507992" y="37764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Escoger un atributo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4507992" y="41879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con lista blanca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01584" y="3273552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R"/>
          </a:p>
        </p:txBody>
      </p:sp>
      <p:sp>
        <p:nvSpPr>
          <p:cNvPr id="39" name="Shape 37"/>
          <p:cNvSpPr/>
          <p:nvPr/>
        </p:nvSpPr>
        <p:spPr>
          <a:xfrm>
            <a:off x="8101584" y="3273552"/>
            <a:ext cx="3611880" cy="91440"/>
          </a:xfrm>
          <a:prstGeom prst="rect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40" name="Text 38"/>
          <p:cNvSpPr/>
          <p:nvPr/>
        </p:nvSpPr>
        <p:spPr>
          <a:xfrm>
            <a:off x="8284464" y="34198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5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RF-06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284464" y="37764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de 3+ tablas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284464" y="41879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⋈ theme ⋈ age ⋈ difficulty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4764024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R"/>
          </a:p>
        </p:txBody>
      </p:sp>
      <p:sp>
        <p:nvSpPr>
          <p:cNvPr id="44" name="Shape 42"/>
          <p:cNvSpPr/>
          <p:nvPr/>
        </p:nvSpPr>
        <p:spPr>
          <a:xfrm>
            <a:off x="548640" y="4764024"/>
            <a:ext cx="3611880" cy="91440"/>
          </a:xfrm>
          <a:prstGeom prst="rect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45" name="Text 43"/>
          <p:cNvSpPr/>
          <p:nvPr/>
        </p:nvSpPr>
        <p:spPr>
          <a:xfrm>
            <a:off x="731520" y="4910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5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RF-07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731520" y="52669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 GROUP BY/HAVING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731520" y="56784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promedio por tema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325112" y="4764024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R"/>
          </a:p>
        </p:txBody>
      </p:sp>
      <p:sp>
        <p:nvSpPr>
          <p:cNvPr id="49" name="Shape 47"/>
          <p:cNvSpPr/>
          <p:nvPr/>
        </p:nvSpPr>
        <p:spPr>
          <a:xfrm>
            <a:off x="4325112" y="4764024"/>
            <a:ext cx="3611880" cy="91440"/>
          </a:xfrm>
          <a:prstGeom prst="rect">
            <a:avLst/>
          </a:prstGeom>
          <a:solidFill>
            <a:srgbClr val="2C9E4B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50" name="Text 48"/>
          <p:cNvSpPr/>
          <p:nvPr/>
        </p:nvSpPr>
        <p:spPr>
          <a:xfrm>
            <a:off x="4507992" y="4910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C9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RF-08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4507992" y="52669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datos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4507992" y="56784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parametrizado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101584" y="4764024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R"/>
          </a:p>
        </p:txBody>
      </p:sp>
      <p:sp>
        <p:nvSpPr>
          <p:cNvPr id="54" name="Shape 52"/>
          <p:cNvSpPr/>
          <p:nvPr/>
        </p:nvSpPr>
        <p:spPr>
          <a:xfrm>
            <a:off x="8101584" y="4764024"/>
            <a:ext cx="3611880" cy="91440"/>
          </a:xfrm>
          <a:prstGeom prst="rect">
            <a:avLst/>
          </a:prstGeom>
          <a:solidFill>
            <a:srgbClr val="2C9E4B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55" name="Text 53"/>
          <p:cNvSpPr/>
          <p:nvPr/>
        </p:nvSpPr>
        <p:spPr>
          <a:xfrm>
            <a:off x="8284464" y="4910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C9E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RF-09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8284464" y="52669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datos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8284464" y="56784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parametrizado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LegoDB · COMP4018-030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1A24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61520" cy="73152"/>
          </a:xfrm>
          <a:prstGeom prst="rect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164592" cy="164592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5" name="Shape 3"/>
          <p:cNvSpPr/>
          <p:nvPr/>
        </p:nvSpPr>
        <p:spPr>
          <a:xfrm>
            <a:off x="813816" y="146304"/>
            <a:ext cx="164592" cy="164592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6" name="Shape 4"/>
          <p:cNvSpPr/>
          <p:nvPr/>
        </p:nvSpPr>
        <p:spPr>
          <a:xfrm>
            <a:off x="1124712" y="146304"/>
            <a:ext cx="164592" cy="164592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7" name="Shape 5"/>
          <p:cNvSpPr/>
          <p:nvPr/>
        </p:nvSpPr>
        <p:spPr>
          <a:xfrm>
            <a:off x="1435608" y="146304"/>
            <a:ext cx="164592" cy="164592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8" name="Shape 6"/>
          <p:cNvSpPr/>
          <p:nvPr/>
        </p:nvSpPr>
        <p:spPr>
          <a:xfrm>
            <a:off x="1746504" y="146304"/>
            <a:ext cx="164592" cy="164592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9" name="Shape 7"/>
          <p:cNvSpPr/>
          <p:nvPr/>
        </p:nvSpPr>
        <p:spPr>
          <a:xfrm>
            <a:off x="2057400" y="146304"/>
            <a:ext cx="164592" cy="164592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10" name="Text 8"/>
          <p:cNvSpPr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y tecnologías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692640" y="32918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C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LegoDB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MVC sobre Flask, SQL crudo parametrizado y stack 100 % software libre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/>
          </a:p>
        </p:txBody>
      </p:sp>
      <p:sp>
        <p:nvSpPr>
          <p:cNvPr id="14" name="Shape 12"/>
          <p:cNvSpPr/>
          <p:nvPr/>
        </p:nvSpPr>
        <p:spPr>
          <a:xfrm>
            <a:off x="548640" y="1874520"/>
            <a:ext cx="3611880" cy="566928"/>
          </a:xfrm>
          <a:prstGeom prst="rect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15" name="Text 13"/>
          <p:cNvSpPr/>
          <p:nvPr/>
        </p:nvSpPr>
        <p:spPr>
          <a:xfrm>
            <a:off x="731520" y="187452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31520" y="2560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5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db.py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29718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3A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datos con SQL crudo y prepared statements (mysql-connector)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60520" y="2788920"/>
            <a:ext cx="182880" cy="457200"/>
          </a:xfrm>
          <a:prstGeom prst="rightArrow">
            <a:avLst/>
          </a:prstGeom>
          <a:solidFill>
            <a:srgbClr val="5B606B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19" name="Shape 17"/>
          <p:cNvSpPr/>
          <p:nvPr/>
        </p:nvSpPr>
        <p:spPr>
          <a:xfrm>
            <a:off x="4343400" y="1874520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/>
          </a:p>
        </p:txBody>
      </p:sp>
      <p:sp>
        <p:nvSpPr>
          <p:cNvPr id="20" name="Shape 18"/>
          <p:cNvSpPr/>
          <p:nvPr/>
        </p:nvSpPr>
        <p:spPr>
          <a:xfrm>
            <a:off x="4343400" y="1874520"/>
            <a:ext cx="3611880" cy="566928"/>
          </a:xfrm>
          <a:prstGeom prst="rect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21" name="Text 19"/>
          <p:cNvSpPr/>
          <p:nvPr/>
        </p:nvSpPr>
        <p:spPr>
          <a:xfrm>
            <a:off x="4526280" y="187452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02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Vista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526280" y="2560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A6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29718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3A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Jinja2 con herencia de base.html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55280" y="2788920"/>
            <a:ext cx="182880" cy="457200"/>
          </a:xfrm>
          <a:prstGeom prst="rightArrow">
            <a:avLst/>
          </a:prstGeom>
          <a:solidFill>
            <a:srgbClr val="5B606B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25" name="Shape 23"/>
          <p:cNvSpPr/>
          <p:nvPr/>
        </p:nvSpPr>
        <p:spPr>
          <a:xfrm>
            <a:off x="8138160" y="1874520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R"/>
          </a:p>
        </p:txBody>
      </p:sp>
      <p:sp>
        <p:nvSpPr>
          <p:cNvPr id="26" name="Shape 24"/>
          <p:cNvSpPr/>
          <p:nvPr/>
        </p:nvSpPr>
        <p:spPr>
          <a:xfrm>
            <a:off x="8138160" y="1874520"/>
            <a:ext cx="3611880" cy="566928"/>
          </a:xfrm>
          <a:prstGeom prst="rect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27" name="Text 25"/>
          <p:cNvSpPr/>
          <p:nvPr/>
        </p:nvSpPr>
        <p:spPr>
          <a:xfrm>
            <a:off x="8321040" y="187452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Controlador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321040" y="2560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612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21040" y="29718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3A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Flask + autenticación con Flask-Login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02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tecnológico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4983480"/>
            <a:ext cx="1115568" cy="420624"/>
          </a:xfrm>
          <a:prstGeom prst="roundRect">
            <a:avLst>
              <a:gd name="adj" fmla="val 50000"/>
            </a:avLst>
          </a:prstGeom>
          <a:solidFill>
            <a:srgbClr val="1A1A24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32" name="Text 30"/>
          <p:cNvSpPr/>
          <p:nvPr/>
        </p:nvSpPr>
        <p:spPr>
          <a:xfrm>
            <a:off x="548640" y="498348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1828800" y="4983480"/>
            <a:ext cx="800100" cy="420624"/>
          </a:xfrm>
          <a:prstGeom prst="roundRect">
            <a:avLst>
              <a:gd name="adj" fmla="val 50000"/>
            </a:avLst>
          </a:prstGeom>
          <a:solidFill>
            <a:srgbClr val="1A1A24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34" name="Text 32"/>
          <p:cNvSpPr/>
          <p:nvPr/>
        </p:nvSpPr>
        <p:spPr>
          <a:xfrm>
            <a:off x="1828800" y="4983480"/>
            <a:ext cx="8001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2793492" y="4983480"/>
            <a:ext cx="905256" cy="420624"/>
          </a:xfrm>
          <a:prstGeom prst="roundRect">
            <a:avLst>
              <a:gd name="adj" fmla="val 50000"/>
            </a:avLst>
          </a:prstGeom>
          <a:solidFill>
            <a:srgbClr val="1A1A24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36" name="Text 34"/>
          <p:cNvSpPr/>
          <p:nvPr/>
        </p:nvSpPr>
        <p:spPr>
          <a:xfrm>
            <a:off x="2793492" y="4983480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863340" y="4983480"/>
            <a:ext cx="800100" cy="420624"/>
          </a:xfrm>
          <a:prstGeom prst="roundRect">
            <a:avLst>
              <a:gd name="adj" fmla="val 50000"/>
            </a:avLst>
          </a:prstGeom>
          <a:solidFill>
            <a:srgbClr val="1A1A24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38" name="Text 36"/>
          <p:cNvSpPr/>
          <p:nvPr/>
        </p:nvSpPr>
        <p:spPr>
          <a:xfrm>
            <a:off x="3863340" y="4983480"/>
            <a:ext cx="8001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828032" y="4983480"/>
            <a:ext cx="1115568" cy="420624"/>
          </a:xfrm>
          <a:prstGeom prst="roundRect">
            <a:avLst>
              <a:gd name="adj" fmla="val 50000"/>
            </a:avLst>
          </a:prstGeom>
          <a:solidFill>
            <a:srgbClr val="1A1A24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40" name="Text 38"/>
          <p:cNvSpPr/>
          <p:nvPr/>
        </p:nvSpPr>
        <p:spPr>
          <a:xfrm>
            <a:off x="4828032" y="498348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108192" y="4983480"/>
            <a:ext cx="1115568" cy="420624"/>
          </a:xfrm>
          <a:prstGeom prst="roundRect">
            <a:avLst>
              <a:gd name="adj" fmla="val 50000"/>
            </a:avLst>
          </a:prstGeom>
          <a:solidFill>
            <a:srgbClr val="1A1A24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42" name="Text 40"/>
          <p:cNvSpPr/>
          <p:nvPr/>
        </p:nvSpPr>
        <p:spPr>
          <a:xfrm>
            <a:off x="6108192" y="498348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388352" y="4983480"/>
            <a:ext cx="905256" cy="420624"/>
          </a:xfrm>
          <a:prstGeom prst="roundRect">
            <a:avLst>
              <a:gd name="adj" fmla="val 50000"/>
            </a:avLst>
          </a:prstGeom>
          <a:solidFill>
            <a:srgbClr val="1A1A24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44" name="Text 42"/>
          <p:cNvSpPr/>
          <p:nvPr/>
        </p:nvSpPr>
        <p:spPr>
          <a:xfrm>
            <a:off x="7388352" y="4983480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458200" y="4983480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A1A24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46" name="Text 44"/>
          <p:cNvSpPr/>
          <p:nvPr/>
        </p:nvSpPr>
        <p:spPr>
          <a:xfrm>
            <a:off x="8458200" y="498348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LegoDB · COMP4018-030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1A24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61520" cy="73152"/>
          </a:xfrm>
          <a:prstGeom prst="rect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164592" cy="164592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5" name="Shape 3"/>
          <p:cNvSpPr/>
          <p:nvPr/>
        </p:nvSpPr>
        <p:spPr>
          <a:xfrm>
            <a:off x="813816" y="146304"/>
            <a:ext cx="164592" cy="164592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6" name="Shape 4"/>
          <p:cNvSpPr/>
          <p:nvPr/>
        </p:nvSpPr>
        <p:spPr>
          <a:xfrm>
            <a:off x="1124712" y="146304"/>
            <a:ext cx="164592" cy="164592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7" name="Shape 5"/>
          <p:cNvSpPr/>
          <p:nvPr/>
        </p:nvSpPr>
        <p:spPr>
          <a:xfrm>
            <a:off x="1435608" y="146304"/>
            <a:ext cx="164592" cy="164592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8" name="Shape 6"/>
          <p:cNvSpPr/>
          <p:nvPr/>
        </p:nvSpPr>
        <p:spPr>
          <a:xfrm>
            <a:off x="1746504" y="146304"/>
            <a:ext cx="164592" cy="164592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9" name="Shape 7"/>
          <p:cNvSpPr/>
          <p:nvPr/>
        </p:nvSpPr>
        <p:spPr>
          <a:xfrm>
            <a:off x="2057400" y="146304"/>
            <a:ext cx="164592" cy="164592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10" name="Text 8"/>
          <p:cNvSpPr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Entidad–Relación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692640" y="32918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C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LegoDB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7498080" cy="3883165"/>
          </a:xfrm>
          <a:prstGeom prst="rect">
            <a:avLst/>
          </a:prstGeom>
          <a:solidFill>
            <a:srgbClr val="F4F5F7"/>
          </a:solidFill>
          <a:ln w="1270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es-PR"/>
          </a:p>
        </p:txBody>
      </p:sp>
      <p:pic>
        <p:nvPicPr>
          <p:cNvPr id="13" name="Image 0" descr="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7315200" cy="370028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5318773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de Chen extendida · diseñado en Draw.io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092440" y="1371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612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muestra?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092440" y="178308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 completo del dominio: la entidad central </a:t>
            </a:r>
            <a:r>
              <a:rPr lang="en-US" sz="1300" b="1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r>
              <a:rPr lang="en-US" sz="1300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relaciona con </a:t>
            </a:r>
            <a:r>
              <a:rPr lang="en-US" sz="1300" b="1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Tema, RangoEdad, Dificultad, País y Reseña.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092440" y="28803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(ISA): </a:t>
            </a:r>
            <a:r>
              <a:rPr lang="en-US" sz="1300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se especializa en Licensed/Original — total y disjunta.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92440" y="36576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</a:t>
            </a:r>
            <a:r>
              <a:rPr lang="en-US" sz="1300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especializa (Registrado / Administrador) para la autenticación.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92440" y="4526280"/>
            <a:ext cx="3611880" cy="1417320"/>
          </a:xfrm>
          <a:prstGeom prst="rect">
            <a:avLst/>
          </a:prstGeom>
          <a:solidFill>
            <a:srgbClr val="FFF7D6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20" name="Shape 17"/>
          <p:cNvSpPr/>
          <p:nvPr/>
        </p:nvSpPr>
        <p:spPr>
          <a:xfrm>
            <a:off x="8092440" y="4526280"/>
            <a:ext cx="91440" cy="1417320"/>
          </a:xfrm>
          <a:prstGeom prst="rect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21" name="Text 18"/>
          <p:cNvSpPr/>
          <p:nvPr/>
        </p:nvSpPr>
        <p:spPr>
          <a:xfrm>
            <a:off x="8293608" y="461772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5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r>
              <a:rPr lang="en-US" sz="1200" dirty="0">
                <a:solidFill>
                  <a:srgbClr val="5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entidades de extensión futura (Minifigura, Dimensión, Sesión) que no están en el CSV y por eso no se implementaron.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LegoDB · COMP4018-030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1A24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61520" cy="73152"/>
          </a:xfrm>
          <a:prstGeom prst="rect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4" name="Shape 2"/>
          <p:cNvSpPr/>
          <p:nvPr/>
        </p:nvSpPr>
        <p:spPr>
          <a:xfrm>
            <a:off x="502920" y="146304"/>
            <a:ext cx="164592" cy="164592"/>
          </a:xfrm>
          <a:prstGeom prst="ellipse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5" name="Shape 3"/>
          <p:cNvSpPr/>
          <p:nvPr/>
        </p:nvSpPr>
        <p:spPr>
          <a:xfrm>
            <a:off x="813816" y="146304"/>
            <a:ext cx="164592" cy="164592"/>
          </a:xfrm>
          <a:prstGeom prst="ellipse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6" name="Shape 4"/>
          <p:cNvSpPr/>
          <p:nvPr/>
        </p:nvSpPr>
        <p:spPr>
          <a:xfrm>
            <a:off x="1124712" y="146304"/>
            <a:ext cx="164592" cy="164592"/>
          </a:xfrm>
          <a:prstGeom prst="ellipse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7" name="Shape 5"/>
          <p:cNvSpPr/>
          <p:nvPr/>
        </p:nvSpPr>
        <p:spPr>
          <a:xfrm>
            <a:off x="1435608" y="146304"/>
            <a:ext cx="164592" cy="164592"/>
          </a:xfrm>
          <a:prstGeom prst="ellipse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8" name="Shape 6"/>
          <p:cNvSpPr/>
          <p:nvPr/>
        </p:nvSpPr>
        <p:spPr>
          <a:xfrm>
            <a:off x="1746504" y="146304"/>
            <a:ext cx="164592" cy="164592"/>
          </a:xfrm>
          <a:prstGeom prst="ellipse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9" name="Shape 7"/>
          <p:cNvSpPr/>
          <p:nvPr/>
        </p:nvSpPr>
        <p:spPr>
          <a:xfrm>
            <a:off x="2057400" y="146304"/>
            <a:ext cx="164592" cy="164592"/>
          </a:xfrm>
          <a:prstGeom prst="ellipse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10" name="Text 8"/>
          <p:cNvSpPr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Esquema relacional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692640" y="32918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C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LegoDB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325880"/>
            <a:ext cx="6682064" cy="4937760"/>
          </a:xfrm>
          <a:prstGeom prst="rect">
            <a:avLst/>
          </a:prstGeom>
          <a:solidFill>
            <a:srgbClr val="F4F5F7"/>
          </a:solidFill>
          <a:ln w="1270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es-PR"/>
          </a:p>
        </p:txBody>
      </p:sp>
      <p:pic>
        <p:nvPicPr>
          <p:cNvPr id="13" name="Image 0" descr="r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499184" cy="4754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6263640"/>
            <a:ext cx="649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tablas · PK, FK e integridad referencial (MySQL)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54380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5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Traducción al modelo relacional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543800" y="17373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entidad y relación del E/R se convierte en tablas con claves primarias y foráneas.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543800" y="2514600"/>
            <a:ext cx="4114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6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lego_set</a:t>
            </a:r>
            <a:endParaRPr lang="en-US" sz="130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central, 1 fila por set</a:t>
            </a:r>
            <a:endParaRPr lang="en-US" sz="130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6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→ licensed / original</a:t>
            </a:r>
            <a:endParaRPr lang="en-US" sz="130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herencia: tabla por subclase</a:t>
            </a:r>
            <a:endParaRPr lang="en-US" sz="130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6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price_listing</a:t>
            </a:r>
            <a:endParaRPr lang="en-US" sz="130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M:N set–país; list_price es atributo de la relación</a:t>
            </a:r>
            <a:endParaRPr lang="en-US" sz="130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6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review_summary</a:t>
            </a:r>
            <a:endParaRPr lang="en-US" sz="130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1:1 con el set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543800" y="5440680"/>
            <a:ext cx="4114800" cy="777240"/>
          </a:xfrm>
          <a:prstGeom prst="rect">
            <a:avLst/>
          </a:prstGeom>
          <a:solidFill>
            <a:srgbClr val="E7F0F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19" name="Shape 16"/>
          <p:cNvSpPr/>
          <p:nvPr/>
        </p:nvSpPr>
        <p:spPr>
          <a:xfrm>
            <a:off x="7543800" y="5440680"/>
            <a:ext cx="91440" cy="777240"/>
          </a:xfrm>
          <a:prstGeom prst="rect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20" name="Text 17"/>
          <p:cNvSpPr/>
          <p:nvPr/>
        </p:nvSpPr>
        <p:spPr>
          <a:xfrm>
            <a:off x="7744968" y="54406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A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Normalizado a 3NF/BCNF</a:t>
            </a:r>
            <a:r>
              <a:rPr lang="en-US" sz="1200" dirty="0">
                <a:solidFill>
                  <a:srgbClr val="0A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sin redundancia ni anomalías de inserción/modificación.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LegoDB · COMP4018-030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057A8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4" name="Shape 2"/>
          <p:cNvSpPr/>
          <p:nvPr/>
        </p:nvSpPr>
        <p:spPr>
          <a:xfrm>
            <a:off x="5166360" y="1554480"/>
            <a:ext cx="914400" cy="566928"/>
          </a:xfrm>
          <a:prstGeom prst="roundRect">
            <a:avLst>
              <a:gd name="adj" fmla="val 8065"/>
            </a:avLst>
          </a:prstGeom>
          <a:solidFill>
            <a:srgbClr val="FFCD00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PR"/>
          </a:p>
        </p:txBody>
      </p:sp>
      <p:sp>
        <p:nvSpPr>
          <p:cNvPr id="5" name="Shape 3"/>
          <p:cNvSpPr/>
          <p:nvPr/>
        </p:nvSpPr>
        <p:spPr>
          <a:xfrm>
            <a:off x="5294376" y="1467740"/>
            <a:ext cx="192756" cy="192756"/>
          </a:xfrm>
          <a:prstGeom prst="ellipse">
            <a:avLst/>
          </a:prstGeom>
          <a:solidFill>
            <a:srgbClr val="FFCD0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R"/>
          </a:p>
        </p:txBody>
      </p:sp>
      <p:sp>
        <p:nvSpPr>
          <p:cNvPr id="6" name="Shape 4"/>
          <p:cNvSpPr/>
          <p:nvPr/>
        </p:nvSpPr>
        <p:spPr>
          <a:xfrm>
            <a:off x="5759988" y="1467740"/>
            <a:ext cx="192756" cy="192756"/>
          </a:xfrm>
          <a:prstGeom prst="ellipse">
            <a:avLst/>
          </a:prstGeom>
          <a:solidFill>
            <a:srgbClr val="FFCD0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R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914400" cy="566928"/>
          </a:xfrm>
          <a:prstGeom prst="roundRect">
            <a:avLst>
              <a:gd name="adj" fmla="val 8065"/>
            </a:avLst>
          </a:prstGeom>
          <a:solidFill>
            <a:srgbClr val="D6121A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PR"/>
          </a:p>
        </p:txBody>
      </p:sp>
      <p:sp>
        <p:nvSpPr>
          <p:cNvPr id="8" name="Shape 6"/>
          <p:cNvSpPr/>
          <p:nvPr/>
        </p:nvSpPr>
        <p:spPr>
          <a:xfrm>
            <a:off x="6300216" y="1467740"/>
            <a:ext cx="192756" cy="192756"/>
          </a:xfrm>
          <a:prstGeom prst="ellipse">
            <a:avLst/>
          </a:prstGeom>
          <a:solidFill>
            <a:srgbClr val="D6121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R"/>
          </a:p>
        </p:txBody>
      </p:sp>
      <p:sp>
        <p:nvSpPr>
          <p:cNvPr id="9" name="Shape 7"/>
          <p:cNvSpPr/>
          <p:nvPr/>
        </p:nvSpPr>
        <p:spPr>
          <a:xfrm>
            <a:off x="6765828" y="1467740"/>
            <a:ext cx="192756" cy="192756"/>
          </a:xfrm>
          <a:prstGeom prst="ellipse">
            <a:avLst/>
          </a:prstGeom>
          <a:solidFill>
            <a:srgbClr val="D6121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R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continuación: demostración en vivo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371600" y="36118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C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consultas (subconsulta, JOIN, agregación) · inserción y modificación de datos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LegoDB · COMP4018-030 · Johnel Cunningham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74920" y="5257800"/>
            <a:ext cx="182880" cy="182880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14" name="Shape 12"/>
          <p:cNvSpPr/>
          <p:nvPr/>
        </p:nvSpPr>
        <p:spPr>
          <a:xfrm>
            <a:off x="5404104" y="5257800"/>
            <a:ext cx="182880" cy="182880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15" name="Shape 13"/>
          <p:cNvSpPr/>
          <p:nvPr/>
        </p:nvSpPr>
        <p:spPr>
          <a:xfrm>
            <a:off x="5733288" y="5257800"/>
            <a:ext cx="182880" cy="182880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16" name="Shape 14"/>
          <p:cNvSpPr/>
          <p:nvPr/>
        </p:nvSpPr>
        <p:spPr>
          <a:xfrm>
            <a:off x="6062472" y="5257800"/>
            <a:ext cx="182880" cy="182880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17" name="Shape 15"/>
          <p:cNvSpPr/>
          <p:nvPr/>
        </p:nvSpPr>
        <p:spPr>
          <a:xfrm>
            <a:off x="6391656" y="5257800"/>
            <a:ext cx="182880" cy="182880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18" name="Shape 16"/>
          <p:cNvSpPr/>
          <p:nvPr/>
        </p:nvSpPr>
        <p:spPr>
          <a:xfrm>
            <a:off x="6720840" y="5257800"/>
            <a:ext cx="182880" cy="182880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  <p:sp>
        <p:nvSpPr>
          <p:cNvPr id="19" name="Shape 17"/>
          <p:cNvSpPr/>
          <p:nvPr/>
        </p:nvSpPr>
        <p:spPr>
          <a:xfrm>
            <a:off x="7050024" y="5257800"/>
            <a:ext cx="182880" cy="182880"/>
          </a:xfrm>
          <a:prstGeom prst="ellipse">
            <a:avLst/>
          </a:prstGeom>
          <a:solidFill>
            <a:srgbClr val="D6121A"/>
          </a:solidFill>
          <a:ln/>
        </p:spPr>
        <p:txBody>
          <a:bodyPr/>
          <a:lstStyle/>
          <a:p>
            <a:endParaRPr lang="es-P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</Words>
  <Application>Microsoft Office PowerPoint</Application>
  <PresentationFormat>Widescreen</PresentationFormat>
  <Paragraphs>114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LegoDB - Proyecto Final COMP4018</dc:title>
  <dc:subject>PptxGenJS Presentation</dc:subject>
  <dc:creator>Johnel Cunningham</dc:creator>
  <cp:lastModifiedBy>JOHNEL CUNNINGHAM-RIVERA</cp:lastModifiedBy>
  <cp:revision>2</cp:revision>
  <dcterms:created xsi:type="dcterms:W3CDTF">2026-06-06T19:53:54Z</dcterms:created>
  <dcterms:modified xsi:type="dcterms:W3CDTF">2026-06-06T20:00:34Z</dcterms:modified>
</cp:coreProperties>
</file>